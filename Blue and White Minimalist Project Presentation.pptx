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eague Spartan" charset="1" panose="00000800000000000000"/>
      <p:regular r:id="rId17"/>
    </p:embeddedFont>
    <p:embeddedFont>
      <p:font typeface="DG Jory" charset="1" panose="02000000000000000000"/>
      <p:regular r:id="rId18"/>
    </p:embeddedFont>
    <p:embeddedFont>
      <p:font typeface="Canva Sans Bold" charset="1" panose="020B0803030501040103"/>
      <p:regular r:id="rId19"/>
    </p:embeddedFont>
    <p:embeddedFont>
      <p:font typeface="Canva Sans" charset="1" panose="020B0503030501040103"/>
      <p:regular r:id="rId20"/>
    </p:embeddedFont>
    <p:embeddedFont>
      <p:font typeface="DG Jory Bold" charset="1" panose="02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043841" y="3243263"/>
            <a:ext cx="10200318" cy="3800475"/>
          </a:xfrm>
          <a:prstGeom prst="rect">
            <a:avLst/>
          </a:prstGeom>
        </p:spPr>
        <p:txBody>
          <a:bodyPr anchor="t" rtlCol="false" tIns="0" lIns="0" bIns="0" rIns="0">
            <a:spAutoFit/>
          </a:bodyPr>
          <a:lstStyle/>
          <a:p>
            <a:pPr algn="ctr">
              <a:lnSpc>
                <a:spcPts val="10012"/>
              </a:lnSpc>
            </a:pPr>
            <a:r>
              <a:rPr lang="en-US" sz="8344">
                <a:solidFill>
                  <a:srgbClr val="000000"/>
                </a:solidFill>
                <a:latin typeface="League Spartan"/>
                <a:ea typeface="League Spartan"/>
                <a:cs typeface="League Spartan"/>
                <a:sym typeface="League Spartan"/>
              </a:rPr>
              <a:t>EMPLOYEE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3527667" y="-23586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true" rot="0">
            <a:off x="14760333" y="-11093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27667" y="50498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60333" y="60785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316150" y="1852601"/>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73966" y="1710417"/>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282526" y="2222779"/>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OUR TEAM</a:t>
            </a:r>
          </a:p>
        </p:txBody>
      </p:sp>
      <p:sp>
        <p:nvSpPr>
          <p:cNvPr name="TextBox 13" id="13"/>
          <p:cNvSpPr txBox="true"/>
          <p:nvPr/>
        </p:nvSpPr>
        <p:spPr>
          <a:xfrm rot="0">
            <a:off x="3804226" y="4507415"/>
            <a:ext cx="14483774" cy="2698946"/>
          </a:xfrm>
          <a:prstGeom prst="rect">
            <a:avLst/>
          </a:prstGeom>
        </p:spPr>
        <p:txBody>
          <a:bodyPr anchor="t" rtlCol="false" tIns="0" lIns="0" bIns="0" rIns="0">
            <a:spAutoFit/>
          </a:bodyPr>
          <a:lstStyle/>
          <a:p>
            <a:pPr algn="l" marL="831828" indent="-415914" lvl="1">
              <a:lnSpc>
                <a:spcPts val="5393"/>
              </a:lnSpc>
              <a:buFont typeface="Arial"/>
              <a:buChar char="•"/>
            </a:pPr>
            <a:r>
              <a:rPr lang="en-US" sz="3852">
                <a:solidFill>
                  <a:srgbClr val="000000"/>
                </a:solidFill>
                <a:latin typeface="DG Jory"/>
                <a:ea typeface="DG Jory"/>
                <a:cs typeface="DG Jory"/>
                <a:sym typeface="DG Jory"/>
              </a:rPr>
              <a:t>J . Monika (AP23110011563)</a:t>
            </a:r>
          </a:p>
          <a:p>
            <a:pPr algn="l" marL="831828" indent="-415914" lvl="1">
              <a:lnSpc>
                <a:spcPts val="5393"/>
              </a:lnSpc>
              <a:buFont typeface="Arial"/>
              <a:buChar char="•"/>
            </a:pPr>
            <a:r>
              <a:rPr lang="en-US" sz="3852">
                <a:solidFill>
                  <a:srgbClr val="000000"/>
                </a:solidFill>
                <a:latin typeface="DG Jory"/>
                <a:ea typeface="DG Jory"/>
                <a:cs typeface="DG Jory"/>
                <a:sym typeface="DG Jory"/>
              </a:rPr>
              <a:t>N . Poojitha Sravya (AP23110011624)</a:t>
            </a:r>
          </a:p>
          <a:p>
            <a:pPr algn="l" marL="831828" indent="-415914" lvl="1">
              <a:lnSpc>
                <a:spcPts val="5393"/>
              </a:lnSpc>
              <a:buFont typeface="Arial"/>
              <a:buChar char="•"/>
            </a:pPr>
            <a:r>
              <a:rPr lang="en-US" sz="3852">
                <a:solidFill>
                  <a:srgbClr val="000000"/>
                </a:solidFill>
                <a:latin typeface="DG Jory"/>
                <a:ea typeface="DG Jory"/>
                <a:cs typeface="DG Jory"/>
                <a:sym typeface="DG Jory"/>
              </a:rPr>
              <a:t>U . Manogna (AP23110011635)</a:t>
            </a:r>
          </a:p>
          <a:p>
            <a:pPr algn="l" marL="831828" indent="-415914" lvl="1">
              <a:lnSpc>
                <a:spcPts val="5393"/>
              </a:lnSpc>
              <a:buFont typeface="Arial"/>
              <a:buChar char="•"/>
            </a:pPr>
            <a:r>
              <a:rPr lang="en-US" sz="3852">
                <a:solidFill>
                  <a:srgbClr val="000000"/>
                </a:solidFill>
                <a:latin typeface="DG Jory"/>
                <a:ea typeface="DG Jory"/>
                <a:cs typeface="DG Jory"/>
                <a:sym typeface="DG Jory"/>
              </a:rPr>
              <a:t>K . Lakshmi Pravallika (AP23110011625)</a:t>
            </a:r>
          </a:p>
        </p:txBody>
      </p:sp>
      <p:sp>
        <p:nvSpPr>
          <p:cNvPr name="TextBox 14" id="14"/>
          <p:cNvSpPr txBox="true"/>
          <p:nvPr/>
        </p:nvSpPr>
        <p:spPr>
          <a:xfrm rot="0">
            <a:off x="16946258" y="8457127"/>
            <a:ext cx="504137" cy="1208843"/>
          </a:xfrm>
          <a:prstGeom prst="rect">
            <a:avLst/>
          </a:prstGeom>
        </p:spPr>
        <p:txBody>
          <a:bodyPr anchor="t" rtlCol="false" tIns="0" lIns="0" bIns="0" rIns="0" wrap="none">
            <a:spAutoFit/>
          </a:bodyPr>
          <a:lstStyle/>
          <a:p>
            <a:pPr algn="ctr">
              <a:lnSpc>
                <a:spcPts val="9972"/>
              </a:lnSpc>
              <a:spcBef>
                <a:spcPct val="0"/>
              </a:spcBef>
            </a:pPr>
            <a:r>
              <a:rPr lang="en-US" b="true" sz="7122">
                <a:solidFill>
                  <a:srgbClr val="000000"/>
                </a:solidFill>
                <a:latin typeface="Canva Sans Bold"/>
                <a:ea typeface="Canva Sans Bold"/>
                <a:cs typeface="Canva Sans Bold"/>
                <a:sym typeface="Canva Sans 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68222" y="4180821"/>
            <a:ext cx="12900811" cy="2970995"/>
          </a:xfrm>
          <a:prstGeom prst="rect">
            <a:avLst/>
          </a:prstGeom>
        </p:spPr>
        <p:txBody>
          <a:bodyPr anchor="t" rtlCol="false" tIns="0" lIns="0" bIns="0" rIns="0">
            <a:spAutoFit/>
          </a:bodyPr>
          <a:lstStyle/>
          <a:p>
            <a:pPr algn="l">
              <a:lnSpc>
                <a:spcPts val="4727"/>
              </a:lnSpc>
            </a:pPr>
            <a:r>
              <a:rPr lang="en-US" sz="3376">
                <a:solidFill>
                  <a:srgbClr val="000000"/>
                </a:solidFill>
                <a:latin typeface="DG Jory"/>
                <a:ea typeface="DG Jory"/>
                <a:cs typeface="DG Jory"/>
                <a:sym typeface="DG Jory"/>
              </a:rPr>
              <a:t>The Employee Management System is a web-based solution designed to reduce manual work and streamline employee data handling in an organization. This system allows Admins and HR to manage employee details, attendance, and salary reports efficiently. It also includes data export features in PDF and Excel formats and visual analytics using charts. </a:t>
            </a:r>
          </a:p>
        </p:txBody>
      </p:sp>
      <p:sp>
        <p:nvSpPr>
          <p:cNvPr name="TextBox 13" id="13"/>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INTRODUCTION</a:t>
            </a:r>
          </a:p>
        </p:txBody>
      </p:sp>
      <p:sp>
        <p:nvSpPr>
          <p:cNvPr name="TextBox 14" id="14"/>
          <p:cNvSpPr txBox="true"/>
          <p:nvPr/>
        </p:nvSpPr>
        <p:spPr>
          <a:xfrm rot="0">
            <a:off x="17058559" y="8752106"/>
            <a:ext cx="348081" cy="807819"/>
          </a:xfrm>
          <a:prstGeom prst="rect">
            <a:avLst/>
          </a:prstGeom>
        </p:spPr>
        <p:txBody>
          <a:bodyPr anchor="t" rtlCol="false" tIns="0" lIns="0" bIns="0" rIns="0" wrap="none">
            <a:spAutoFit/>
          </a:bodyPr>
          <a:lstStyle/>
          <a:p>
            <a:pPr algn="ctr">
              <a:lnSpc>
                <a:spcPts val="6614"/>
              </a:lnSpc>
              <a:spcBef>
                <a:spcPct val="0"/>
              </a:spcBef>
            </a:pPr>
            <a:r>
              <a:rPr lang="en-US" b="true" sz="4724">
                <a:solidFill>
                  <a:srgbClr val="000000"/>
                </a:solidFill>
                <a:latin typeface="Canva Sans Bold"/>
                <a:ea typeface="Canva Sans Bold"/>
                <a:cs typeface="Canva Sans Bold"/>
                <a:sym typeface="Canva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028700"/>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70884" y="1170884"/>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790236" y="3173018"/>
            <a:ext cx="12465177" cy="5221202"/>
          </a:xfrm>
          <a:prstGeom prst="rect">
            <a:avLst/>
          </a:prstGeom>
        </p:spPr>
        <p:txBody>
          <a:bodyPr anchor="t" rtlCol="false" tIns="0" lIns="0" bIns="0" rIns="0">
            <a:spAutoFit/>
          </a:bodyPr>
          <a:lstStyle/>
          <a:p>
            <a:pPr algn="l" marL="715896" indent="-357948" lvl="1">
              <a:lnSpc>
                <a:spcPts val="4642"/>
              </a:lnSpc>
              <a:buFont typeface="Arial"/>
              <a:buChar char="•"/>
            </a:pPr>
            <a:r>
              <a:rPr lang="en-US" sz="3315">
                <a:solidFill>
                  <a:srgbClr val="000000"/>
                </a:solidFill>
                <a:latin typeface="DG Jory"/>
                <a:ea typeface="DG Jory"/>
                <a:cs typeface="DG Jory"/>
                <a:sym typeface="DG Jory"/>
              </a:rPr>
              <a:t>T</a:t>
            </a:r>
            <a:r>
              <a:rPr lang="en-US" sz="3315">
                <a:solidFill>
                  <a:srgbClr val="000000"/>
                </a:solidFill>
                <a:latin typeface="DG Jory"/>
                <a:ea typeface="DG Jory"/>
                <a:cs typeface="DG Jory"/>
                <a:sym typeface="DG Jory"/>
              </a:rPr>
              <a:t>o maintain accurate and up-to-date employee records in a centralized system.</a:t>
            </a:r>
          </a:p>
          <a:p>
            <a:pPr algn="l" marL="715896" indent="-357948" lvl="1">
              <a:lnSpc>
                <a:spcPts val="4642"/>
              </a:lnSpc>
              <a:buFont typeface="Arial"/>
              <a:buChar char="•"/>
            </a:pPr>
            <a:r>
              <a:rPr lang="en-US" sz="3315">
                <a:solidFill>
                  <a:srgbClr val="000000"/>
                </a:solidFill>
                <a:latin typeface="DG Jory"/>
                <a:ea typeface="DG Jory"/>
                <a:cs typeface="DG Jory"/>
                <a:sym typeface="DG Jory"/>
              </a:rPr>
              <a:t>To simplify HR tasks such as tracking attendance, salary, and leave details.</a:t>
            </a:r>
          </a:p>
          <a:p>
            <a:pPr algn="l" marL="715896" indent="-357948" lvl="1">
              <a:lnSpc>
                <a:spcPts val="4642"/>
              </a:lnSpc>
              <a:buFont typeface="Arial"/>
              <a:buChar char="•"/>
            </a:pPr>
            <a:r>
              <a:rPr lang="en-US" sz="3315">
                <a:solidFill>
                  <a:srgbClr val="000000"/>
                </a:solidFill>
                <a:latin typeface="DG Jory"/>
                <a:ea typeface="DG Jory"/>
                <a:cs typeface="DG Jory"/>
                <a:sym typeface="DG Jory"/>
              </a:rPr>
              <a:t>To reduce manual errors and paperwork through automation.</a:t>
            </a:r>
          </a:p>
          <a:p>
            <a:pPr algn="l" marL="715896" indent="-357948" lvl="1">
              <a:lnSpc>
                <a:spcPts val="4642"/>
              </a:lnSpc>
              <a:buFont typeface="Arial"/>
              <a:buChar char="•"/>
            </a:pPr>
            <a:r>
              <a:rPr lang="en-US" sz="3315">
                <a:solidFill>
                  <a:srgbClr val="000000"/>
                </a:solidFill>
                <a:latin typeface="DG Jory"/>
                <a:ea typeface="DG Jory"/>
                <a:cs typeface="DG Jory"/>
                <a:sym typeface="DG Jory"/>
              </a:rPr>
              <a:t>To improve data accessibility and management efficiency.</a:t>
            </a:r>
          </a:p>
          <a:p>
            <a:pPr algn="l" marL="715896" indent="-357948" lvl="1">
              <a:lnSpc>
                <a:spcPts val="4642"/>
              </a:lnSpc>
              <a:buFont typeface="Arial"/>
              <a:buChar char="•"/>
            </a:pPr>
            <a:r>
              <a:rPr lang="en-US" sz="3315">
                <a:solidFill>
                  <a:srgbClr val="000000"/>
                </a:solidFill>
                <a:latin typeface="DG Jory"/>
                <a:ea typeface="DG Jory"/>
                <a:cs typeface="DG Jory"/>
                <a:sym typeface="DG Jory"/>
              </a:rPr>
              <a:t>To generate reports for quick decision-making and analysis.</a:t>
            </a:r>
          </a:p>
          <a:p>
            <a:pPr algn="l" marL="715896" indent="-357948" lvl="1">
              <a:lnSpc>
                <a:spcPts val="4642"/>
              </a:lnSpc>
              <a:buFont typeface="Arial"/>
              <a:buChar char="•"/>
            </a:pPr>
            <a:r>
              <a:rPr lang="en-US" sz="3315">
                <a:solidFill>
                  <a:srgbClr val="000000"/>
                </a:solidFill>
                <a:latin typeface="DG Jory"/>
                <a:ea typeface="DG Jory"/>
                <a:cs typeface="DG Jory"/>
                <a:sym typeface="DG Jory"/>
              </a:rPr>
              <a:t>To provide secure access to employee information based on roles.</a:t>
            </a:r>
          </a:p>
          <a:p>
            <a:pPr algn="l">
              <a:lnSpc>
                <a:spcPts val="4642"/>
              </a:lnSpc>
            </a:pPr>
          </a:p>
        </p:txBody>
      </p:sp>
      <p:sp>
        <p:nvSpPr>
          <p:cNvPr name="TextBox 12" id="12"/>
          <p:cNvSpPr txBox="true"/>
          <p:nvPr/>
        </p:nvSpPr>
        <p:spPr>
          <a:xfrm rot="0">
            <a:off x="1137260" y="1541062"/>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OBJECTIVE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58888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970953" y="2745525"/>
            <a:ext cx="13051576" cy="66165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Python:  Main programming language for building the logic of the web applications.</a:t>
            </a:r>
          </a:p>
          <a:p>
            <a:pPr algn="l" marL="675648" indent="-337824" lvl="1">
              <a:lnSpc>
                <a:spcPts val="4381"/>
              </a:lnSpc>
              <a:buFont typeface="Arial"/>
              <a:buChar char="•"/>
            </a:pPr>
            <a:r>
              <a:rPr lang="en-US" sz="3129">
                <a:solidFill>
                  <a:srgbClr val="000000"/>
                </a:solidFill>
                <a:latin typeface="DG Jory"/>
                <a:ea typeface="DG Jory"/>
                <a:cs typeface="DG Jory"/>
                <a:sym typeface="DG Jory"/>
              </a:rPr>
              <a:t>Flask : A lightweight web framework used to create the routes, manage sessions and serve HTML templates.</a:t>
            </a:r>
          </a:p>
          <a:p>
            <a:pPr algn="l" marL="675648" indent="-337824" lvl="1">
              <a:lnSpc>
                <a:spcPts val="4381"/>
              </a:lnSpc>
              <a:buFont typeface="Arial"/>
              <a:buChar char="•"/>
            </a:pPr>
            <a:r>
              <a:rPr lang="en-US" sz="3129">
                <a:solidFill>
                  <a:srgbClr val="000000"/>
                </a:solidFill>
                <a:latin typeface="DG Jory"/>
                <a:ea typeface="DG Jory"/>
                <a:cs typeface="DG Jory"/>
                <a:sym typeface="DG Jory"/>
              </a:rPr>
              <a:t>MySQL :  The relational databases to store user information , employee records , attendance , and salary details.</a:t>
            </a:r>
          </a:p>
          <a:p>
            <a:pPr algn="l" marL="675648" indent="-337824" lvl="1">
              <a:lnSpc>
                <a:spcPts val="4381"/>
              </a:lnSpc>
              <a:buFont typeface="Arial"/>
              <a:buChar char="•"/>
            </a:pPr>
            <a:r>
              <a:rPr lang="en-US" sz="3129">
                <a:solidFill>
                  <a:srgbClr val="000000"/>
                </a:solidFill>
                <a:latin typeface="DG Jory"/>
                <a:ea typeface="DG Jory"/>
                <a:cs typeface="DG Jory"/>
                <a:sym typeface="DG Jory"/>
              </a:rPr>
              <a:t>Pandas :  Handling and exporting tabular data to Excel format.</a:t>
            </a:r>
          </a:p>
          <a:p>
            <a:pPr algn="l" marL="675648" indent="-337824" lvl="1">
              <a:lnSpc>
                <a:spcPts val="4381"/>
              </a:lnSpc>
              <a:buFont typeface="Arial"/>
              <a:buChar char="•"/>
            </a:pPr>
            <a:r>
              <a:rPr lang="en-US" sz="3129">
                <a:solidFill>
                  <a:srgbClr val="000000"/>
                </a:solidFill>
                <a:latin typeface="DG Jory"/>
                <a:ea typeface="DG Jory"/>
                <a:cs typeface="DG Jory"/>
                <a:sym typeface="DG Jory"/>
              </a:rPr>
              <a:t>Matplotlib :  Creating salary charts based on employee salary data.</a:t>
            </a:r>
          </a:p>
          <a:p>
            <a:pPr algn="l" marL="675648" indent="-337824" lvl="1">
              <a:lnSpc>
                <a:spcPts val="4381"/>
              </a:lnSpc>
              <a:buFont typeface="Arial"/>
              <a:buChar char="•"/>
            </a:pPr>
            <a:r>
              <a:rPr lang="en-US" sz="3129">
                <a:solidFill>
                  <a:srgbClr val="000000"/>
                </a:solidFill>
                <a:latin typeface="DG Jory"/>
                <a:ea typeface="DG Jory"/>
                <a:cs typeface="DG Jory"/>
                <a:sym typeface="DG Jory"/>
              </a:rPr>
              <a:t>Reportlab :  Generate employee reports in PDF  format.</a:t>
            </a:r>
          </a:p>
          <a:p>
            <a:pPr algn="l" marL="675648" indent="-337824" lvl="1">
              <a:lnSpc>
                <a:spcPts val="4381"/>
              </a:lnSpc>
              <a:buFont typeface="Arial"/>
              <a:buChar char="•"/>
            </a:pPr>
            <a:r>
              <a:rPr lang="en-US" sz="3129">
                <a:solidFill>
                  <a:srgbClr val="000000"/>
                </a:solidFill>
                <a:latin typeface="DG Jory"/>
                <a:ea typeface="DG Jory"/>
                <a:cs typeface="DG Jory"/>
                <a:sym typeface="DG Jory"/>
              </a:rPr>
              <a:t>HTML/CSS(templates) : Design user interfaces like login page , dashboard , and attendance, </a:t>
            </a:r>
          </a:p>
          <a:p>
            <a:pPr algn="l">
              <a:lnSpc>
                <a:spcPts val="4381"/>
              </a:lnSpc>
            </a:pPr>
            <a:r>
              <a:rPr lang="en-US" sz="3129">
                <a:solidFill>
                  <a:srgbClr val="000000"/>
                </a:solidFill>
                <a:latin typeface="DG Jory"/>
                <a:ea typeface="DG Jory"/>
                <a:cs typeface="DG Jory"/>
                <a:sym typeface="DG Jory"/>
              </a:rPr>
              <a:t>.</a:t>
            </a:r>
          </a:p>
        </p:txBody>
      </p:sp>
      <p:grpSp>
        <p:nvGrpSpPr>
          <p:cNvPr name="Group 7" id="7"/>
          <p:cNvGrpSpPr/>
          <p:nvPr/>
        </p:nvGrpSpPr>
        <p:grpSpPr>
          <a:xfrm rot="0">
            <a:off x="5124259" y="501204"/>
            <a:ext cx="9060274" cy="1915506"/>
            <a:chOff x="0" y="0"/>
            <a:chExt cx="3844515" cy="812800"/>
          </a:xfrm>
        </p:grpSpPr>
        <p:sp>
          <p:nvSpPr>
            <p:cNvPr name="Freeform 8" id="8"/>
            <p:cNvSpPr/>
            <p:nvPr/>
          </p:nvSpPr>
          <p:spPr>
            <a:xfrm flipH="false" flipV="false" rot="0">
              <a:off x="0" y="0"/>
              <a:ext cx="3844515" cy="812800"/>
            </a:xfrm>
            <a:custGeom>
              <a:avLst/>
              <a:gdLst/>
              <a:ahLst/>
              <a:cxnLst/>
              <a:rect r="r" b="b" t="t" l="l"/>
              <a:pathLst>
                <a:path h="812800" w="3844515">
                  <a:moveTo>
                    <a:pt x="3844515" y="0"/>
                  </a:moveTo>
                  <a:lnTo>
                    <a:pt x="0" y="0"/>
                  </a:lnTo>
                  <a:lnTo>
                    <a:pt x="0" y="624840"/>
                  </a:lnTo>
                  <a:lnTo>
                    <a:pt x="157480" y="624840"/>
                  </a:lnTo>
                  <a:lnTo>
                    <a:pt x="157480" y="812800"/>
                  </a:lnTo>
                  <a:lnTo>
                    <a:pt x="463550" y="624840"/>
                  </a:lnTo>
                  <a:lnTo>
                    <a:pt x="3844515" y="624840"/>
                  </a:lnTo>
                  <a:lnTo>
                    <a:pt x="3844515" y="0"/>
                  </a:lnTo>
                  <a:close/>
                </a:path>
              </a:pathLst>
            </a:custGeom>
            <a:solidFill>
              <a:srgbClr val="9BDAE9"/>
            </a:solidFill>
            <a:ln cap="sq">
              <a:noFill/>
              <a:prstDash val="solid"/>
              <a:miter/>
            </a:ln>
          </p:spPr>
        </p:sp>
        <p:sp>
          <p:nvSpPr>
            <p:cNvPr name="TextBox 9" id="9"/>
            <p:cNvSpPr txBox="true"/>
            <p:nvPr/>
          </p:nvSpPr>
          <p:spPr>
            <a:xfrm>
              <a:off x="0" y="-47625"/>
              <a:ext cx="3844515"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5408038" y="736909"/>
            <a:ext cx="9003123" cy="1926583"/>
            <a:chOff x="0" y="0"/>
            <a:chExt cx="3798300" cy="812800"/>
          </a:xfrm>
        </p:grpSpPr>
        <p:sp>
          <p:nvSpPr>
            <p:cNvPr name="Freeform 11" id="11"/>
            <p:cNvSpPr/>
            <p:nvPr/>
          </p:nvSpPr>
          <p:spPr>
            <a:xfrm flipH="false" flipV="false" rot="0">
              <a:off x="0" y="0"/>
              <a:ext cx="3798300" cy="812800"/>
            </a:xfrm>
            <a:custGeom>
              <a:avLst/>
              <a:gdLst/>
              <a:ahLst/>
              <a:cxnLst/>
              <a:rect r="r" b="b" t="t" l="l"/>
              <a:pathLst>
                <a:path h="812800" w="3798300">
                  <a:moveTo>
                    <a:pt x="3798300" y="0"/>
                  </a:moveTo>
                  <a:lnTo>
                    <a:pt x="0" y="0"/>
                  </a:lnTo>
                  <a:lnTo>
                    <a:pt x="0" y="624840"/>
                  </a:lnTo>
                  <a:lnTo>
                    <a:pt x="157480" y="624840"/>
                  </a:lnTo>
                  <a:lnTo>
                    <a:pt x="157480" y="812800"/>
                  </a:lnTo>
                  <a:lnTo>
                    <a:pt x="463550" y="624840"/>
                  </a:lnTo>
                  <a:lnTo>
                    <a:pt x="3798300" y="624840"/>
                  </a:lnTo>
                  <a:lnTo>
                    <a:pt x="37983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37983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044558" y="1028700"/>
            <a:ext cx="8139975" cy="716510"/>
          </a:xfrm>
          <a:prstGeom prst="rect">
            <a:avLst/>
          </a:prstGeom>
        </p:spPr>
        <p:txBody>
          <a:bodyPr anchor="t" rtlCol="false" tIns="0" lIns="0" bIns="0" rIns="0">
            <a:spAutoFit/>
          </a:bodyPr>
          <a:lstStyle/>
          <a:p>
            <a:pPr algn="ctr">
              <a:lnSpc>
                <a:spcPts val="5663"/>
              </a:lnSpc>
            </a:pPr>
            <a:r>
              <a:rPr lang="en-US" sz="4719">
                <a:solidFill>
                  <a:srgbClr val="000000"/>
                </a:solidFill>
                <a:latin typeface="League Spartan"/>
                <a:ea typeface="League Spartan"/>
                <a:cs typeface="League Spartan"/>
                <a:sym typeface="League Spartan"/>
              </a:rPr>
              <a:t>TOOLS &amp; TECHNOLOGIES</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58439" y="5273556"/>
            <a:ext cx="7360133" cy="6664266"/>
          </a:xfrm>
          <a:custGeom>
            <a:avLst/>
            <a:gdLst/>
            <a:ahLst/>
            <a:cxnLst/>
            <a:rect r="r" b="b" t="t" l="l"/>
            <a:pathLst>
              <a:path h="6664266" w="7360133">
                <a:moveTo>
                  <a:pt x="0" y="0"/>
                </a:moveTo>
                <a:lnTo>
                  <a:pt x="7360133" y="0"/>
                </a:lnTo>
                <a:lnTo>
                  <a:pt x="7360133"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086254" y="-1764270"/>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053606" y="69548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4058439" y="-2688831"/>
            <a:ext cx="7360133" cy="6664266"/>
          </a:xfrm>
          <a:custGeom>
            <a:avLst/>
            <a:gdLst/>
            <a:ahLst/>
            <a:cxnLst/>
            <a:rect r="r" b="b" t="t" l="l"/>
            <a:pathLst>
              <a:path h="6664266" w="7360133">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6021566" y="2814685"/>
            <a:ext cx="9064688" cy="580482"/>
          </a:xfrm>
          <a:prstGeom prst="rect">
            <a:avLst/>
          </a:prstGeom>
        </p:spPr>
        <p:txBody>
          <a:bodyPr anchor="t" rtlCol="false" tIns="0" lIns="0" bIns="0" rIns="0">
            <a:spAutoFit/>
          </a:bodyPr>
          <a:lstStyle/>
          <a:p>
            <a:pPr algn="l">
              <a:lnSpc>
                <a:spcPts val="4671"/>
              </a:lnSpc>
            </a:pPr>
            <a:r>
              <a:rPr lang="en-US" sz="3336">
                <a:solidFill>
                  <a:srgbClr val="000000"/>
                </a:solidFill>
                <a:latin typeface="DG Jory"/>
                <a:ea typeface="DG Jory"/>
                <a:cs typeface="DG Jory"/>
                <a:sym typeface="DG Jory"/>
              </a:rPr>
              <a:t> Database name : employee_db</a:t>
            </a:r>
          </a:p>
        </p:txBody>
      </p:sp>
      <p:grpSp>
        <p:nvGrpSpPr>
          <p:cNvPr name="Group 7" id="7"/>
          <p:cNvGrpSpPr/>
          <p:nvPr/>
        </p:nvGrpSpPr>
        <p:grpSpPr>
          <a:xfrm rot="0">
            <a:off x="6021566" y="551449"/>
            <a:ext cx="6871300" cy="2032828"/>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031091" y="705014"/>
            <a:ext cx="6937864" cy="2052521"/>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226812" y="956024"/>
            <a:ext cx="6315106" cy="713538"/>
          </a:xfrm>
          <a:prstGeom prst="rect">
            <a:avLst/>
          </a:prstGeom>
        </p:spPr>
        <p:txBody>
          <a:bodyPr anchor="t" rtlCol="false" tIns="0" lIns="0" bIns="0" rIns="0">
            <a:spAutoFit/>
          </a:bodyPr>
          <a:lstStyle/>
          <a:p>
            <a:pPr algn="ctr">
              <a:lnSpc>
                <a:spcPts val="5639"/>
              </a:lnSpc>
            </a:pPr>
            <a:r>
              <a:rPr lang="en-US" sz="4699">
                <a:solidFill>
                  <a:srgbClr val="000000"/>
                </a:solidFill>
                <a:latin typeface="League Spartan"/>
                <a:ea typeface="League Spartan"/>
                <a:cs typeface="League Spartan"/>
                <a:sym typeface="League Spartan"/>
              </a:rPr>
              <a:t>DATABASE DESIGN</a:t>
            </a:r>
          </a:p>
        </p:txBody>
      </p:sp>
      <p:sp>
        <p:nvSpPr>
          <p:cNvPr name="AutoShape 14" id="14"/>
          <p:cNvSpPr/>
          <p:nvPr/>
        </p:nvSpPr>
        <p:spPr>
          <a:xfrm>
            <a:off x="9144000" y="3395167"/>
            <a:ext cx="0" cy="1748333"/>
          </a:xfrm>
          <a:prstGeom prst="line">
            <a:avLst/>
          </a:prstGeom>
          <a:ln cap="flat" w="38100">
            <a:solidFill>
              <a:srgbClr val="000000"/>
            </a:solidFill>
            <a:prstDash val="solid"/>
            <a:headEnd type="none" len="sm" w="sm"/>
            <a:tailEnd type="none" len="sm" w="sm"/>
          </a:ln>
        </p:spPr>
      </p:sp>
      <p:sp>
        <p:nvSpPr>
          <p:cNvPr name="AutoShape 15" id="15"/>
          <p:cNvSpPr/>
          <p:nvPr/>
        </p:nvSpPr>
        <p:spPr>
          <a:xfrm flipV="true">
            <a:off x="4685643" y="4276071"/>
            <a:ext cx="4542046" cy="867429"/>
          </a:xfrm>
          <a:prstGeom prst="line">
            <a:avLst/>
          </a:prstGeom>
          <a:ln cap="flat" w="38100">
            <a:solidFill>
              <a:srgbClr val="000000"/>
            </a:solidFill>
            <a:prstDash val="solid"/>
            <a:headEnd type="none" len="sm" w="sm"/>
            <a:tailEnd type="none" len="sm" w="sm"/>
          </a:ln>
        </p:spPr>
      </p:sp>
      <p:sp>
        <p:nvSpPr>
          <p:cNvPr name="AutoShape 16" id="16"/>
          <p:cNvSpPr/>
          <p:nvPr/>
        </p:nvSpPr>
        <p:spPr>
          <a:xfrm>
            <a:off x="9144000" y="4276071"/>
            <a:ext cx="4627455" cy="867429"/>
          </a:xfrm>
          <a:prstGeom prst="line">
            <a:avLst/>
          </a:prstGeom>
          <a:ln cap="flat" w="38100">
            <a:solidFill>
              <a:srgbClr val="000000"/>
            </a:solidFill>
            <a:prstDash val="solid"/>
            <a:headEnd type="none" len="sm" w="sm"/>
            <a:tailEnd type="none" len="sm" w="sm"/>
          </a:ln>
        </p:spPr>
      </p:sp>
      <p:sp>
        <p:nvSpPr>
          <p:cNvPr name="TextBox 17" id="17"/>
          <p:cNvSpPr txBox="true"/>
          <p:nvPr/>
        </p:nvSpPr>
        <p:spPr>
          <a:xfrm rot="0">
            <a:off x="3509009" y="5197356"/>
            <a:ext cx="2717802" cy="1169515"/>
          </a:xfrm>
          <a:prstGeom prst="rect">
            <a:avLst/>
          </a:prstGeom>
        </p:spPr>
        <p:txBody>
          <a:bodyPr anchor="t" rtlCol="false" tIns="0" lIns="0" bIns="0" rIns="0">
            <a:spAutoFit/>
          </a:bodyPr>
          <a:lstStyle/>
          <a:p>
            <a:pPr algn="l">
              <a:lnSpc>
                <a:spcPts val="4671"/>
              </a:lnSpc>
            </a:pPr>
            <a:r>
              <a:rPr lang="en-US" sz="3336">
                <a:solidFill>
                  <a:srgbClr val="000000"/>
                </a:solidFill>
                <a:latin typeface="DG Jory"/>
                <a:ea typeface="DG Jory"/>
                <a:cs typeface="DG Jory"/>
                <a:sym typeface="DG Jory"/>
              </a:rPr>
              <a:t>Table  : Users</a:t>
            </a:r>
          </a:p>
          <a:p>
            <a:pPr algn="l">
              <a:lnSpc>
                <a:spcPts val="4671"/>
              </a:lnSpc>
            </a:pPr>
            <a:r>
              <a:rPr lang="en-US" sz="3336">
                <a:solidFill>
                  <a:srgbClr val="000000"/>
                </a:solidFill>
                <a:latin typeface="DG Jory"/>
                <a:ea typeface="DG Jory"/>
                <a:cs typeface="DG Jory"/>
                <a:sym typeface="DG Jory"/>
              </a:rPr>
              <a:t>Columns :</a:t>
            </a:r>
          </a:p>
        </p:txBody>
      </p:sp>
      <p:sp>
        <p:nvSpPr>
          <p:cNvPr name="TextBox 18" id="18"/>
          <p:cNvSpPr txBox="true"/>
          <p:nvPr/>
        </p:nvSpPr>
        <p:spPr>
          <a:xfrm rot="0">
            <a:off x="8075572" y="5197356"/>
            <a:ext cx="3218600" cy="1169515"/>
          </a:xfrm>
          <a:prstGeom prst="rect">
            <a:avLst/>
          </a:prstGeom>
        </p:spPr>
        <p:txBody>
          <a:bodyPr anchor="t" rtlCol="false" tIns="0" lIns="0" bIns="0" rIns="0">
            <a:spAutoFit/>
          </a:bodyPr>
          <a:lstStyle/>
          <a:p>
            <a:pPr algn="l">
              <a:lnSpc>
                <a:spcPts val="4671"/>
              </a:lnSpc>
            </a:pPr>
            <a:r>
              <a:rPr lang="en-US" sz="3336">
                <a:solidFill>
                  <a:srgbClr val="000000"/>
                </a:solidFill>
                <a:latin typeface="DG Jory"/>
                <a:ea typeface="DG Jory"/>
                <a:cs typeface="DG Jory"/>
                <a:sym typeface="DG Jory"/>
              </a:rPr>
              <a:t>Table : Employees</a:t>
            </a:r>
          </a:p>
          <a:p>
            <a:pPr algn="l">
              <a:lnSpc>
                <a:spcPts val="4671"/>
              </a:lnSpc>
            </a:pPr>
            <a:r>
              <a:rPr lang="en-US" sz="3336">
                <a:solidFill>
                  <a:srgbClr val="000000"/>
                </a:solidFill>
                <a:latin typeface="DG Jory"/>
                <a:ea typeface="DG Jory"/>
                <a:cs typeface="DG Jory"/>
                <a:sym typeface="DG Jory"/>
              </a:rPr>
              <a:t>Columns :</a:t>
            </a:r>
          </a:p>
        </p:txBody>
      </p:sp>
      <p:sp>
        <p:nvSpPr>
          <p:cNvPr name="TextBox 19" id="19"/>
          <p:cNvSpPr txBox="true"/>
          <p:nvPr/>
        </p:nvSpPr>
        <p:spPr>
          <a:xfrm rot="0">
            <a:off x="12541917" y="5258399"/>
            <a:ext cx="3550442" cy="1169515"/>
          </a:xfrm>
          <a:prstGeom prst="rect">
            <a:avLst/>
          </a:prstGeom>
        </p:spPr>
        <p:txBody>
          <a:bodyPr anchor="t" rtlCol="false" tIns="0" lIns="0" bIns="0" rIns="0">
            <a:spAutoFit/>
          </a:bodyPr>
          <a:lstStyle/>
          <a:p>
            <a:pPr algn="l">
              <a:lnSpc>
                <a:spcPts val="4671"/>
              </a:lnSpc>
            </a:pPr>
            <a:r>
              <a:rPr lang="en-US" sz="3336">
                <a:solidFill>
                  <a:srgbClr val="000000"/>
                </a:solidFill>
                <a:latin typeface="DG Jory"/>
                <a:ea typeface="DG Jory"/>
                <a:cs typeface="DG Jory"/>
                <a:sym typeface="DG Jory"/>
              </a:rPr>
              <a:t>Table : Attendance</a:t>
            </a:r>
          </a:p>
          <a:p>
            <a:pPr algn="l">
              <a:lnSpc>
                <a:spcPts val="4671"/>
              </a:lnSpc>
            </a:pPr>
            <a:r>
              <a:rPr lang="en-US" sz="3336">
                <a:solidFill>
                  <a:srgbClr val="000000"/>
                </a:solidFill>
                <a:latin typeface="DG Jory"/>
                <a:ea typeface="DG Jory"/>
                <a:cs typeface="DG Jory"/>
                <a:sym typeface="DG Jory"/>
              </a:rPr>
              <a:t>Columns : </a:t>
            </a:r>
          </a:p>
        </p:txBody>
      </p:sp>
      <p:sp>
        <p:nvSpPr>
          <p:cNvPr name="TextBox 20" id="20"/>
          <p:cNvSpPr txBox="true"/>
          <p:nvPr/>
        </p:nvSpPr>
        <p:spPr>
          <a:xfrm rot="0">
            <a:off x="2744767" y="6433547"/>
            <a:ext cx="4827372" cy="21969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id :INT, PRIMARY KEY</a:t>
            </a:r>
          </a:p>
          <a:p>
            <a:pPr algn="l" marL="675648" indent="-337824" lvl="1">
              <a:lnSpc>
                <a:spcPts val="4381"/>
              </a:lnSpc>
              <a:buFont typeface="Arial"/>
              <a:buChar char="•"/>
            </a:pPr>
            <a:r>
              <a:rPr lang="en-US" sz="3129">
                <a:solidFill>
                  <a:srgbClr val="000000"/>
                </a:solidFill>
                <a:latin typeface="DG Jory"/>
                <a:ea typeface="DG Jory"/>
                <a:cs typeface="DG Jory"/>
                <a:sym typeface="DG Jory"/>
              </a:rPr>
              <a:t>username : VARCHAR</a:t>
            </a:r>
          </a:p>
          <a:p>
            <a:pPr algn="l" marL="675648" indent="-337824" lvl="1">
              <a:lnSpc>
                <a:spcPts val="4381"/>
              </a:lnSpc>
              <a:buFont typeface="Arial"/>
              <a:buChar char="•"/>
            </a:pPr>
            <a:r>
              <a:rPr lang="en-US" sz="3129">
                <a:solidFill>
                  <a:srgbClr val="000000"/>
                </a:solidFill>
                <a:latin typeface="DG Jory"/>
                <a:ea typeface="DG Jory"/>
                <a:cs typeface="DG Jory"/>
                <a:sym typeface="DG Jory"/>
              </a:rPr>
              <a:t>password : VARCHAR</a:t>
            </a:r>
          </a:p>
          <a:p>
            <a:pPr algn="l" marL="675648" indent="-337824" lvl="1">
              <a:lnSpc>
                <a:spcPts val="4381"/>
              </a:lnSpc>
              <a:buFont typeface="Arial"/>
              <a:buChar char="•"/>
            </a:pPr>
            <a:r>
              <a:rPr lang="en-US" sz="3129">
                <a:solidFill>
                  <a:srgbClr val="000000"/>
                </a:solidFill>
                <a:latin typeface="DG Jory"/>
                <a:ea typeface="DG Jory"/>
                <a:cs typeface="DG Jory"/>
                <a:sym typeface="DG Jory"/>
              </a:rPr>
              <a:t>role : VARCHAR</a:t>
            </a:r>
          </a:p>
        </p:txBody>
      </p:sp>
      <p:sp>
        <p:nvSpPr>
          <p:cNvPr name="TextBox 21" id="21"/>
          <p:cNvSpPr txBox="true"/>
          <p:nvPr/>
        </p:nvSpPr>
        <p:spPr>
          <a:xfrm rot="0">
            <a:off x="7263835" y="6433547"/>
            <a:ext cx="4827372" cy="21969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id :INT, PRIMARY KEY</a:t>
            </a:r>
          </a:p>
          <a:p>
            <a:pPr algn="l" marL="675648" indent="-337824" lvl="1">
              <a:lnSpc>
                <a:spcPts val="4381"/>
              </a:lnSpc>
              <a:buFont typeface="Arial"/>
              <a:buChar char="•"/>
            </a:pPr>
            <a:r>
              <a:rPr lang="en-US" sz="3129">
                <a:solidFill>
                  <a:srgbClr val="000000"/>
                </a:solidFill>
                <a:latin typeface="DG Jory"/>
                <a:ea typeface="DG Jory"/>
                <a:cs typeface="DG Jory"/>
                <a:sym typeface="DG Jory"/>
              </a:rPr>
              <a:t>name : VARCHAR</a:t>
            </a:r>
          </a:p>
          <a:p>
            <a:pPr algn="l" marL="675648" indent="-337824" lvl="1">
              <a:lnSpc>
                <a:spcPts val="4381"/>
              </a:lnSpc>
              <a:buFont typeface="Arial"/>
              <a:buChar char="•"/>
            </a:pPr>
            <a:r>
              <a:rPr lang="en-US" sz="3129">
                <a:solidFill>
                  <a:srgbClr val="000000"/>
                </a:solidFill>
                <a:latin typeface="DG Jory"/>
                <a:ea typeface="DG Jory"/>
                <a:cs typeface="DG Jory"/>
                <a:sym typeface="DG Jory"/>
              </a:rPr>
              <a:t>department : VARCHAR</a:t>
            </a:r>
          </a:p>
          <a:p>
            <a:pPr algn="l" marL="675648" indent="-337824" lvl="1">
              <a:lnSpc>
                <a:spcPts val="4381"/>
              </a:lnSpc>
              <a:buFont typeface="Arial"/>
              <a:buChar char="•"/>
            </a:pPr>
            <a:r>
              <a:rPr lang="en-US" sz="3129">
                <a:solidFill>
                  <a:srgbClr val="000000"/>
                </a:solidFill>
                <a:latin typeface="DG Jory"/>
                <a:ea typeface="DG Jory"/>
                <a:cs typeface="DG Jory"/>
                <a:sym typeface="DG Jory"/>
              </a:rPr>
              <a:t>salary : INT</a:t>
            </a:r>
          </a:p>
        </p:txBody>
      </p:sp>
      <p:sp>
        <p:nvSpPr>
          <p:cNvPr name="TextBox 22" id="22"/>
          <p:cNvSpPr txBox="true"/>
          <p:nvPr/>
        </p:nvSpPr>
        <p:spPr>
          <a:xfrm rot="0">
            <a:off x="12091206" y="6433547"/>
            <a:ext cx="4827372" cy="21969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id :INT, PRIMARY KEY</a:t>
            </a:r>
          </a:p>
          <a:p>
            <a:pPr algn="l" marL="675648" indent="-337824" lvl="1">
              <a:lnSpc>
                <a:spcPts val="4381"/>
              </a:lnSpc>
              <a:buFont typeface="Arial"/>
              <a:buChar char="•"/>
            </a:pPr>
            <a:r>
              <a:rPr lang="en-US" sz="3129">
                <a:solidFill>
                  <a:srgbClr val="000000"/>
                </a:solidFill>
                <a:latin typeface="DG Jory"/>
                <a:ea typeface="DG Jory"/>
                <a:cs typeface="DG Jory"/>
                <a:sym typeface="DG Jory"/>
              </a:rPr>
              <a:t>employee_id: INT</a:t>
            </a:r>
          </a:p>
          <a:p>
            <a:pPr algn="l" marL="675648" indent="-337824" lvl="1">
              <a:lnSpc>
                <a:spcPts val="4381"/>
              </a:lnSpc>
              <a:buFont typeface="Arial"/>
              <a:buChar char="•"/>
            </a:pPr>
            <a:r>
              <a:rPr lang="en-US" sz="3129">
                <a:solidFill>
                  <a:srgbClr val="000000"/>
                </a:solidFill>
                <a:latin typeface="DG Jory"/>
                <a:ea typeface="DG Jory"/>
                <a:cs typeface="DG Jory"/>
                <a:sym typeface="DG Jory"/>
              </a:rPr>
              <a:t>date : DATE</a:t>
            </a:r>
          </a:p>
          <a:p>
            <a:pPr algn="l" marL="675648" indent="-337824" lvl="1">
              <a:lnSpc>
                <a:spcPts val="4381"/>
              </a:lnSpc>
              <a:buFont typeface="Arial"/>
              <a:buChar char="•"/>
            </a:pPr>
            <a:r>
              <a:rPr lang="en-US" sz="3129">
                <a:solidFill>
                  <a:srgbClr val="000000"/>
                </a:solidFill>
                <a:latin typeface="DG Jory"/>
                <a:ea typeface="DG Jory"/>
                <a:cs typeface="DG Jory"/>
                <a:sym typeface="DG Jory"/>
              </a:rPr>
              <a:t>status: VARCHAR</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28700" y="3917971"/>
            <a:ext cx="10964915" cy="274943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R</a:t>
            </a:r>
            <a:r>
              <a:rPr lang="en-US" sz="3129">
                <a:solidFill>
                  <a:srgbClr val="000000"/>
                </a:solidFill>
                <a:latin typeface="DG Jory"/>
                <a:ea typeface="DG Jory"/>
                <a:cs typeface="DG Jory"/>
                <a:sym typeface="DG Jory"/>
              </a:rPr>
              <a:t>ole-based Access (Admin, HR, Employee)</a:t>
            </a:r>
          </a:p>
          <a:p>
            <a:pPr algn="l" marL="675648" indent="-337824" lvl="1">
              <a:lnSpc>
                <a:spcPts val="4381"/>
              </a:lnSpc>
              <a:buFont typeface="Arial"/>
              <a:buChar char="•"/>
            </a:pPr>
            <a:r>
              <a:rPr lang="en-US" sz="3129">
                <a:solidFill>
                  <a:srgbClr val="000000"/>
                </a:solidFill>
                <a:latin typeface="DG Jory"/>
                <a:ea typeface="DG Jory"/>
                <a:cs typeface="DG Jory"/>
                <a:sym typeface="DG Jory"/>
              </a:rPr>
              <a:t>Manage Employee Records</a:t>
            </a:r>
          </a:p>
          <a:p>
            <a:pPr algn="l" marL="675648" indent="-337824" lvl="1">
              <a:lnSpc>
                <a:spcPts val="4381"/>
              </a:lnSpc>
              <a:buFont typeface="Arial"/>
              <a:buChar char="•"/>
            </a:pPr>
            <a:r>
              <a:rPr lang="en-US" sz="3129">
                <a:solidFill>
                  <a:srgbClr val="000000"/>
                </a:solidFill>
                <a:latin typeface="DG Jory"/>
                <a:ea typeface="DG Jory"/>
                <a:cs typeface="DG Jory"/>
                <a:sym typeface="DG Jory"/>
              </a:rPr>
              <a:t>Mark and View Attendance</a:t>
            </a:r>
          </a:p>
          <a:p>
            <a:pPr algn="l" marL="675648" indent="-337824" lvl="1">
              <a:lnSpc>
                <a:spcPts val="4381"/>
              </a:lnSpc>
              <a:buFont typeface="Arial"/>
              <a:buChar char="•"/>
            </a:pPr>
            <a:r>
              <a:rPr lang="en-US" sz="3129">
                <a:solidFill>
                  <a:srgbClr val="000000"/>
                </a:solidFill>
                <a:latin typeface="DG Jory"/>
                <a:ea typeface="DG Jory"/>
                <a:cs typeface="DG Jory"/>
                <a:sym typeface="DG Jory"/>
              </a:rPr>
              <a:t>Salary Chart Visualization</a:t>
            </a:r>
          </a:p>
          <a:p>
            <a:pPr algn="l" marL="675648" indent="-337824" lvl="1">
              <a:lnSpc>
                <a:spcPts val="4381"/>
              </a:lnSpc>
              <a:buFont typeface="Arial"/>
              <a:buChar char="•"/>
            </a:pPr>
            <a:r>
              <a:rPr lang="en-US" sz="3129">
                <a:solidFill>
                  <a:srgbClr val="000000"/>
                </a:solidFill>
                <a:latin typeface="DG Jory"/>
                <a:ea typeface="DG Jory"/>
                <a:cs typeface="DG Jory"/>
                <a:sym typeface="DG Jory"/>
              </a:rPr>
              <a:t>Export Data to Excel and PDF</a:t>
            </a:r>
          </a:p>
        </p:txBody>
      </p:sp>
      <p:grpSp>
        <p:nvGrpSpPr>
          <p:cNvPr name="Group 6" id="6"/>
          <p:cNvGrpSpPr/>
          <p:nvPr/>
        </p:nvGrpSpPr>
        <p:grpSpPr>
          <a:xfrm rot="0">
            <a:off x="1202807" y="1621421"/>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4991" y="1763605"/>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11367" y="2133783"/>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FEATURES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47602" y="3617553"/>
            <a:ext cx="5303996" cy="5263546"/>
            <a:chOff x="0" y="0"/>
            <a:chExt cx="1396937" cy="1386284"/>
          </a:xfrm>
        </p:grpSpPr>
        <p:sp>
          <p:nvSpPr>
            <p:cNvPr name="Freeform 3" id="3"/>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4" id="4"/>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028700" y="3134516"/>
            <a:ext cx="4474224" cy="460375"/>
          </a:xfrm>
          <a:prstGeom prst="rect">
            <a:avLst/>
          </a:prstGeom>
        </p:spPr>
        <p:txBody>
          <a:bodyPr anchor="t" rtlCol="false" tIns="0" lIns="0" bIns="0" rIns="0">
            <a:spAutoFit/>
          </a:bodyPr>
          <a:lstStyle/>
          <a:p>
            <a:pPr algn="ctr">
              <a:lnSpc>
                <a:spcPts val="3500"/>
              </a:lnSpc>
            </a:pPr>
            <a:r>
              <a:rPr lang="en-US" sz="3500">
                <a:solidFill>
                  <a:srgbClr val="000000"/>
                </a:solidFill>
                <a:latin typeface="League Spartan"/>
                <a:ea typeface="League Spartan"/>
                <a:cs typeface="League Spartan"/>
                <a:sym typeface="League Spartan"/>
              </a:rPr>
              <a:t>METHOD :</a:t>
            </a:r>
          </a:p>
        </p:txBody>
      </p:sp>
      <p:sp>
        <p:nvSpPr>
          <p:cNvPr name="TextBox 10" id="10"/>
          <p:cNvSpPr txBox="true"/>
          <p:nvPr/>
        </p:nvSpPr>
        <p:spPr>
          <a:xfrm rot="0">
            <a:off x="1314462" y="3850425"/>
            <a:ext cx="8376924" cy="55116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Requirement Analysis</a:t>
            </a:r>
          </a:p>
          <a:p>
            <a:pPr algn="l" marL="675648" indent="-337824" lvl="1">
              <a:lnSpc>
                <a:spcPts val="4381"/>
              </a:lnSpc>
              <a:buFont typeface="Arial"/>
              <a:buChar char="•"/>
            </a:pPr>
            <a:r>
              <a:rPr lang="en-US" sz="3129">
                <a:solidFill>
                  <a:srgbClr val="000000"/>
                </a:solidFill>
                <a:latin typeface="DG Jory"/>
                <a:ea typeface="DG Jory"/>
                <a:cs typeface="DG Jory"/>
                <a:sym typeface="DG Jory"/>
              </a:rPr>
              <a:t>Identify key features: Login, Employee CRUD, Attendance, Salary Tracking, Reporting.</a:t>
            </a:r>
          </a:p>
          <a:p>
            <a:pPr algn="l" marL="675648" indent="-337824" lvl="1">
              <a:lnSpc>
                <a:spcPts val="4381"/>
              </a:lnSpc>
              <a:buFont typeface="Arial"/>
              <a:buChar char="•"/>
            </a:pPr>
            <a:r>
              <a:rPr lang="en-US" sz="3129">
                <a:solidFill>
                  <a:srgbClr val="000000"/>
                </a:solidFill>
                <a:latin typeface="DG Jory"/>
                <a:ea typeface="DG Jory"/>
                <a:cs typeface="DG Jory"/>
                <a:sym typeface="DG Jory"/>
              </a:rPr>
              <a:t>Database Design</a:t>
            </a:r>
          </a:p>
          <a:p>
            <a:pPr algn="l" marL="675648" indent="-337824" lvl="1">
              <a:lnSpc>
                <a:spcPts val="4381"/>
              </a:lnSpc>
              <a:buFont typeface="Arial"/>
              <a:buChar char="•"/>
            </a:pPr>
            <a:r>
              <a:rPr lang="en-US" sz="3129">
                <a:solidFill>
                  <a:srgbClr val="000000"/>
                </a:solidFill>
                <a:latin typeface="DG Jory"/>
                <a:ea typeface="DG Jory"/>
                <a:cs typeface="DG Jory"/>
                <a:sym typeface="DG Jory"/>
              </a:rPr>
              <a:t>Structured MySQL tables for Employees, Attendance, Salary.</a:t>
            </a:r>
          </a:p>
          <a:p>
            <a:pPr algn="l" marL="675648" indent="-337824" lvl="1">
              <a:lnSpc>
                <a:spcPts val="4381"/>
              </a:lnSpc>
              <a:buFont typeface="Arial"/>
              <a:buChar char="•"/>
            </a:pPr>
            <a:r>
              <a:rPr lang="en-US" sz="3129">
                <a:solidFill>
                  <a:srgbClr val="000000"/>
                </a:solidFill>
                <a:latin typeface="DG Jory"/>
                <a:ea typeface="DG Jory"/>
                <a:cs typeface="DG Jory"/>
                <a:sym typeface="DG Jory"/>
              </a:rPr>
              <a:t>Backend Development</a:t>
            </a:r>
          </a:p>
          <a:p>
            <a:pPr algn="l" marL="675648" indent="-337824" lvl="1">
              <a:lnSpc>
                <a:spcPts val="4381"/>
              </a:lnSpc>
              <a:buFont typeface="Arial"/>
              <a:buChar char="•"/>
            </a:pPr>
            <a:r>
              <a:rPr lang="en-US" sz="3129">
                <a:solidFill>
                  <a:srgbClr val="000000"/>
                </a:solidFill>
                <a:latin typeface="DG Jory"/>
                <a:ea typeface="DG Jory"/>
                <a:cs typeface="DG Jory"/>
                <a:sym typeface="DG Jory"/>
              </a:rPr>
              <a:t>Flask routes for handling login, adding employees, marking attendance, etc.</a:t>
            </a:r>
          </a:p>
          <a:p>
            <a:pPr algn="ctr">
              <a:lnSpc>
                <a:spcPts val="4381"/>
              </a:lnSpc>
            </a:pPr>
          </a:p>
        </p:txBody>
      </p:sp>
      <p:sp>
        <p:nvSpPr>
          <p:cNvPr name="TextBox 11" id="11"/>
          <p:cNvSpPr txBox="true"/>
          <p:nvPr/>
        </p:nvSpPr>
        <p:spPr>
          <a:xfrm rot="0">
            <a:off x="9160812" y="3264664"/>
            <a:ext cx="6766479" cy="606413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Fr</a:t>
            </a:r>
            <a:r>
              <a:rPr lang="en-US" sz="3129">
                <a:solidFill>
                  <a:srgbClr val="000000"/>
                </a:solidFill>
                <a:latin typeface="DG Jory"/>
                <a:ea typeface="DG Jory"/>
                <a:cs typeface="DG Jory"/>
                <a:sym typeface="DG Jory"/>
              </a:rPr>
              <a:t>ontend Interface</a:t>
            </a:r>
          </a:p>
          <a:p>
            <a:pPr algn="l" marL="675648" indent="-337824" lvl="1">
              <a:lnSpc>
                <a:spcPts val="4381"/>
              </a:lnSpc>
              <a:buFont typeface="Arial"/>
              <a:buChar char="•"/>
            </a:pPr>
            <a:r>
              <a:rPr lang="en-US" sz="3129">
                <a:solidFill>
                  <a:srgbClr val="000000"/>
                </a:solidFill>
                <a:latin typeface="DG Jory"/>
                <a:ea typeface="DG Jory"/>
                <a:cs typeface="DG Jory"/>
                <a:sym typeface="DG Jory"/>
              </a:rPr>
              <a:t>HTML templates with Flask  .</a:t>
            </a:r>
          </a:p>
          <a:p>
            <a:pPr algn="l" marL="675648" indent="-337824" lvl="1">
              <a:lnSpc>
                <a:spcPts val="4381"/>
              </a:lnSpc>
              <a:buFont typeface="Arial"/>
              <a:buChar char="•"/>
            </a:pPr>
            <a:r>
              <a:rPr lang="en-US" sz="3129">
                <a:solidFill>
                  <a:srgbClr val="000000"/>
                </a:solidFill>
                <a:latin typeface="DG Jory"/>
                <a:ea typeface="DG Jory"/>
                <a:cs typeface="DG Jory"/>
                <a:sym typeface="DG Jory"/>
              </a:rPr>
              <a:t>Reporting Modules</a:t>
            </a:r>
          </a:p>
          <a:p>
            <a:pPr algn="l" marL="675648" indent="-337824" lvl="1">
              <a:lnSpc>
                <a:spcPts val="4381"/>
              </a:lnSpc>
              <a:buFont typeface="Arial"/>
              <a:buChar char="•"/>
            </a:pPr>
            <a:r>
              <a:rPr lang="en-US" sz="3129">
                <a:solidFill>
                  <a:srgbClr val="000000"/>
                </a:solidFill>
                <a:latin typeface="DG Jory"/>
                <a:ea typeface="DG Jory"/>
                <a:cs typeface="DG Jory"/>
                <a:sym typeface="DG Jory"/>
              </a:rPr>
              <a:t>Data analysis using Pandas &amp; visualizations with Matplotlib.</a:t>
            </a:r>
          </a:p>
          <a:p>
            <a:pPr algn="l" marL="675648" indent="-337824" lvl="1">
              <a:lnSpc>
                <a:spcPts val="4381"/>
              </a:lnSpc>
              <a:buFont typeface="Arial"/>
              <a:buChar char="•"/>
            </a:pPr>
            <a:r>
              <a:rPr lang="en-US" sz="3129">
                <a:solidFill>
                  <a:srgbClr val="000000"/>
                </a:solidFill>
                <a:latin typeface="DG Jory"/>
                <a:ea typeface="DG Jory"/>
                <a:cs typeface="DG Jory"/>
                <a:sym typeface="DG Jory"/>
              </a:rPr>
              <a:t>Report generation with ReportLab in PDF and Excel formats.</a:t>
            </a:r>
          </a:p>
          <a:p>
            <a:pPr algn="l" marL="675648" indent="-337824" lvl="1">
              <a:lnSpc>
                <a:spcPts val="4381"/>
              </a:lnSpc>
              <a:buFont typeface="Arial"/>
              <a:buChar char="•"/>
            </a:pPr>
            <a:r>
              <a:rPr lang="en-US" sz="3129">
                <a:solidFill>
                  <a:srgbClr val="000000"/>
                </a:solidFill>
                <a:latin typeface="DG Jory"/>
                <a:ea typeface="DG Jory"/>
                <a:cs typeface="DG Jory"/>
                <a:sym typeface="DG Jory"/>
              </a:rPr>
              <a:t>Testing and Debugging</a:t>
            </a:r>
          </a:p>
          <a:p>
            <a:pPr algn="l" marL="675648" indent="-337824" lvl="1">
              <a:lnSpc>
                <a:spcPts val="4381"/>
              </a:lnSpc>
              <a:buFont typeface="Arial"/>
              <a:buChar char="•"/>
            </a:pPr>
            <a:r>
              <a:rPr lang="en-US" sz="3129">
                <a:solidFill>
                  <a:srgbClr val="000000"/>
                </a:solidFill>
                <a:latin typeface="DG Jory"/>
                <a:ea typeface="DG Jory"/>
                <a:cs typeface="DG Jory"/>
                <a:sym typeface="DG Jory"/>
              </a:rPr>
              <a:t>Manual testing of all modules with sample employee data.</a:t>
            </a:r>
          </a:p>
          <a:p>
            <a:pPr algn="ctr">
              <a:lnSpc>
                <a:spcPts val="4381"/>
              </a:lnSpc>
            </a:pPr>
          </a:p>
        </p:txBody>
      </p:sp>
      <p:grpSp>
        <p:nvGrpSpPr>
          <p:cNvPr name="Group 12" id="12"/>
          <p:cNvGrpSpPr/>
          <p:nvPr/>
        </p:nvGrpSpPr>
        <p:grpSpPr>
          <a:xfrm rot="0">
            <a:off x="6021566" y="1558017"/>
            <a:ext cx="5994124" cy="1773322"/>
            <a:chOff x="0" y="0"/>
            <a:chExt cx="2747400" cy="812800"/>
          </a:xfrm>
        </p:grpSpPr>
        <p:sp>
          <p:nvSpPr>
            <p:cNvPr name="Freeform 13" id="13"/>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14" id="14"/>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6163750" y="1700201"/>
            <a:ext cx="5994124" cy="1773322"/>
            <a:chOff x="0" y="0"/>
            <a:chExt cx="2747400" cy="812800"/>
          </a:xfrm>
        </p:grpSpPr>
        <p:sp>
          <p:nvSpPr>
            <p:cNvPr name="Freeform 16" id="1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7" id="1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METHODOLOGY</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325533"/>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467717"/>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130126" y="1837895"/>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DATA ANALYSIS</a:t>
            </a:r>
          </a:p>
        </p:txBody>
      </p:sp>
      <p:sp>
        <p:nvSpPr>
          <p:cNvPr name="TextBox 13" id="13"/>
          <p:cNvSpPr txBox="true"/>
          <p:nvPr/>
        </p:nvSpPr>
        <p:spPr>
          <a:xfrm rot="0">
            <a:off x="1574724" y="3270866"/>
            <a:ext cx="16230600" cy="986155"/>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DG Jory"/>
                <a:ea typeface="DG Jory"/>
                <a:cs typeface="DG Jory"/>
                <a:sym typeface="DG Jory"/>
              </a:rPr>
              <a:t>Data analytics in this project involves analyzing employee-related data (like attendance and salary) to extract useful insights, improve HR decisions, and visualize trends for better management.</a:t>
            </a:r>
          </a:p>
        </p:txBody>
      </p:sp>
      <p:sp>
        <p:nvSpPr>
          <p:cNvPr name="TextBox 14" id="14"/>
          <p:cNvSpPr txBox="true"/>
          <p:nvPr/>
        </p:nvSpPr>
        <p:spPr>
          <a:xfrm rot="0">
            <a:off x="1970145" y="4833793"/>
            <a:ext cx="4261098" cy="490856"/>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DG Jory Bold"/>
                <a:ea typeface="DG Jory Bold"/>
                <a:cs typeface="DG Jory Bold"/>
                <a:sym typeface="DG Jory Bold"/>
              </a:rPr>
              <a:t>How It's Applied in our Project:</a:t>
            </a:r>
          </a:p>
        </p:txBody>
      </p:sp>
      <p:sp>
        <p:nvSpPr>
          <p:cNvPr name="TextBox 15" id="15"/>
          <p:cNvSpPr txBox="true"/>
          <p:nvPr/>
        </p:nvSpPr>
        <p:spPr>
          <a:xfrm rot="0">
            <a:off x="3120104" y="5615478"/>
            <a:ext cx="9483012" cy="3506470"/>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DG Jory Bold"/>
                <a:ea typeface="DG Jory Bold"/>
                <a:cs typeface="DG Jory Bold"/>
                <a:sym typeface="DG Jory Bold"/>
              </a:rPr>
              <a:t>1. Attendance Analytics</a:t>
            </a:r>
          </a:p>
          <a:p>
            <a:pPr algn="l">
              <a:lnSpc>
                <a:spcPts val="3079"/>
              </a:lnSpc>
              <a:spcBef>
                <a:spcPct val="0"/>
              </a:spcBef>
            </a:pPr>
            <a:r>
              <a:rPr lang="en-US" sz="2199">
                <a:solidFill>
                  <a:srgbClr val="000000"/>
                </a:solidFill>
                <a:latin typeface="DG Jory"/>
                <a:ea typeface="DG Jory"/>
                <a:cs typeface="DG Jory"/>
                <a:sym typeface="DG Jory"/>
              </a:rPr>
              <a:t>Track attendance trends to identify frequent absentees.</a:t>
            </a:r>
          </a:p>
          <a:p>
            <a:pPr algn="l">
              <a:lnSpc>
                <a:spcPts val="3079"/>
              </a:lnSpc>
              <a:spcBef>
                <a:spcPct val="0"/>
              </a:spcBef>
            </a:pPr>
            <a:r>
              <a:rPr lang="en-US" sz="2199">
                <a:solidFill>
                  <a:srgbClr val="000000"/>
                </a:solidFill>
                <a:latin typeface="DG Jory"/>
                <a:ea typeface="DG Jory"/>
                <a:cs typeface="DG Jory"/>
                <a:sym typeface="DG Jory"/>
              </a:rPr>
              <a:t>Analyze punctuality to improve workforce discipline.</a:t>
            </a:r>
          </a:p>
          <a:p>
            <a:pPr algn="l">
              <a:lnSpc>
                <a:spcPts val="3079"/>
              </a:lnSpc>
              <a:spcBef>
                <a:spcPct val="0"/>
              </a:spcBef>
            </a:pPr>
            <a:r>
              <a:rPr lang="en-US" b="true" sz="2199">
                <a:solidFill>
                  <a:srgbClr val="000000"/>
                </a:solidFill>
                <a:latin typeface="DG Jory Bold"/>
                <a:ea typeface="DG Jory Bold"/>
                <a:cs typeface="DG Jory Bold"/>
                <a:sym typeface="DG Jory Bold"/>
              </a:rPr>
              <a:t>2. Salary Analytics</a:t>
            </a:r>
          </a:p>
          <a:p>
            <a:pPr algn="l">
              <a:lnSpc>
                <a:spcPts val="3079"/>
              </a:lnSpc>
              <a:spcBef>
                <a:spcPct val="0"/>
              </a:spcBef>
            </a:pPr>
            <a:r>
              <a:rPr lang="en-US" sz="2199">
                <a:solidFill>
                  <a:srgbClr val="000000"/>
                </a:solidFill>
                <a:latin typeface="DG Jory"/>
                <a:ea typeface="DG Jory"/>
                <a:cs typeface="DG Jory"/>
                <a:sym typeface="DG Jory"/>
              </a:rPr>
              <a:t>Visualize salary distribution across departments.</a:t>
            </a:r>
          </a:p>
          <a:p>
            <a:pPr algn="l">
              <a:lnSpc>
                <a:spcPts val="3079"/>
              </a:lnSpc>
              <a:spcBef>
                <a:spcPct val="0"/>
              </a:spcBef>
            </a:pPr>
            <a:r>
              <a:rPr lang="en-US" sz="2199">
                <a:solidFill>
                  <a:srgbClr val="000000"/>
                </a:solidFill>
                <a:latin typeface="DG Jory"/>
                <a:ea typeface="DG Jory"/>
                <a:cs typeface="DG Jory"/>
                <a:sym typeface="DG Jory"/>
              </a:rPr>
              <a:t>Identify top earners and average salary insights.</a:t>
            </a:r>
          </a:p>
          <a:p>
            <a:pPr algn="l">
              <a:lnSpc>
                <a:spcPts val="3079"/>
              </a:lnSpc>
              <a:spcBef>
                <a:spcPct val="0"/>
              </a:spcBef>
            </a:pPr>
            <a:r>
              <a:rPr lang="en-US" b="true" sz="2199">
                <a:solidFill>
                  <a:srgbClr val="000000"/>
                </a:solidFill>
                <a:latin typeface="DG Jory Bold"/>
                <a:ea typeface="DG Jory Bold"/>
                <a:cs typeface="DG Jory Bold"/>
                <a:sym typeface="DG Jory Bold"/>
              </a:rPr>
              <a:t>3. Reports &amp; Export</a:t>
            </a:r>
          </a:p>
          <a:p>
            <a:pPr algn="l">
              <a:lnSpc>
                <a:spcPts val="3079"/>
              </a:lnSpc>
              <a:spcBef>
                <a:spcPct val="0"/>
              </a:spcBef>
            </a:pPr>
            <a:r>
              <a:rPr lang="en-US" sz="2199">
                <a:solidFill>
                  <a:srgbClr val="000000"/>
                </a:solidFill>
                <a:latin typeface="DG Jory"/>
                <a:ea typeface="DG Jory"/>
                <a:cs typeface="DG Jory"/>
                <a:sym typeface="DG Jory"/>
              </a:rPr>
              <a:t>Generate detailed employee reports in PDF using Reportlab.</a:t>
            </a:r>
          </a:p>
          <a:p>
            <a:pPr algn="l">
              <a:lnSpc>
                <a:spcPts val="3079"/>
              </a:lnSpc>
              <a:spcBef>
                <a:spcPct val="0"/>
              </a:spcBef>
            </a:pPr>
            <a:r>
              <a:rPr lang="en-US" sz="2199">
                <a:solidFill>
                  <a:srgbClr val="000000"/>
                </a:solidFill>
                <a:latin typeface="DG Jory"/>
                <a:ea typeface="DG Jory"/>
                <a:cs typeface="DG Jory"/>
                <a:sym typeface="DG Jory"/>
              </a:rPr>
              <a:t>Export attendance/salary data to Excel using Pandas for analysis.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201283" y="4565674"/>
            <a:ext cx="10406650" cy="330188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The Employee Management System not only streamlines employee data handling but also leverages data analytics to enhance decision-making. By analyzing attendance and salary data through visual charts and exportable reports, the system empowers HR and management with clear, actionable insights—making workforce management more efficient and data-driven.</a:t>
            </a: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467"/>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DAGlQtKTiAM</dc:identifier>
  <dcterms:modified xsi:type="dcterms:W3CDTF">2011-08-01T06:04:30Z</dcterms:modified>
  <cp:revision>1</cp:revision>
  <dc:title>Blue and White Minimalist Project Presentation</dc:title>
</cp:coreProperties>
</file>